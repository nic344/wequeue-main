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 duration 15 min. Intro 1' (English) - Demo 4' - App logic 4' - How it works 4' - Advantages 2'.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 is delivered in ENGLISH (~1 min): each member says name, student ID, and role.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real-world problem WeQueue solves.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One-line value pitch.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completeness of required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each technology from the requirement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left-to-right through the MVVM diagram; stress separation of layers.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rubric keywords: lifecycle, background thread, explicit Intent.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real screenshots.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a short adapter/ViewHolder code snippet.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3-part Retrofit setup.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each step top-to-bottom: this directly answers 'alur login hingga CRUD data'.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real project endpoints for each verb.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JSON response next to the model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what is stored, when it is used, and the auto-logout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evidence the app does not force close + debugging logs.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tables and their foreign-key relations.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Advantages section (~2 minutes).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Record this part live in order; this is the screen-record segment.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GitHub repo and the installed APK.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Proof-of-coverage slide for the examiner.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Closing. Optional: 'Thank you for watching our presentation.'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40280"/>
            <a:ext cx="12191695" cy="109728"/>
          </a:xfrm>
          <a:prstGeom prst="rect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FFFFFF"/>
                </a:solidFill>
              </a:rPr>
              <a:t>WeQueue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F6B00"/>
                </a:solidFill>
              </a:rPr>
              <a:t>Food Ordering Queue Management App  •  Mobile Programming Final Project 2025/2026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6616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FFFFFF"/>
                </a:solidFill>
              </a:rPr>
              <a:t>Devin Ng — 2432012  |  Project Lead &amp; Backend/API (PHP + MySQL)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FFFFFF"/>
                </a:solidFill>
              </a:rPr>
              <a:t>Lam Jeen Sin Anthony — 2432070  |  Android UI/UX &amp; RecyclerView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FFFFFF"/>
                </a:solidFill>
              </a:rPr>
              <a:t>Nicholas Syahputra — 2432050  |  Authentication &amp; Session (MVVM)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FFFFFF"/>
                </a:solidFill>
              </a:rPr>
              <a:t>Xlhynz — 2432059  |  Admin &amp; Staff Features (CRUD)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FFFFFF"/>
                </a:solidFill>
              </a:rPr>
              <a:t>Muhammad Anugrah Wahyu Saputra — 2432003  |  Queue System &amp; Notifications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Team Members &amp;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• Devin Ng (2432012) — Project Lead, REST API (PHP), MySQL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• Lam Jeen Sin Anthony (2432070) — UI/UX, Layouts, RecyclerView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• Nicholas Syahputra (2432050) — Authentication, Session, MVVM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• Xlhynz (2432059) — Admin &amp; Staff features (CRUD, user management)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• Muhammad Anugrah Wahyu Saputra (2432003) — Queue system &amp; notifications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Background &amp;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• Ordering food by queueing manually is inefficient and confusing.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• Customers wait without knowing their turn or estimated time.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• Staff struggle to track and manage the queue order.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• Need: a digital, multi-role queue system synced in real 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Solution: WeQueue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• Android app connecting Customer, Staff, and Admin in one system.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• Customers take a queue number; staff manage it; admin manage menu &amp; users.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• Data synchronized to the server via REST API + MySQL.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• Tagline: "Skip the Queue, Enjoy Your Food".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Key Features (by role)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• General: Login &amp; Register (token), Logout, Splash + role routing, dark mode, notifications.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• Customer: queue status (now serving, remaining, ETA), take/cancel queue, history, favorites, search.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• Staff: dashboard, call next, complete, skip, cancel, monitor &amp; search queues.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• Admin: CRUD foods + image upload, availability toggle, user management (role, delete).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• Covers all 7 required features — exceeds the minimum of 5.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• Language: Java  •  IDE: Android Studio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• Networking: Retrofit2 + OkHttp  •  JSON: GSON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• UI: RecyclerView, CardView, ConstraintLayout, Material Design, Glide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• Session: EncryptedSharedPreferences (encrypted token)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• Backend: PHP + MySQL  •  Version control: GitHub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FF6B00"/>
                </a:solidFill>
              </a:rPr>
              <a:t>CPMK-3: technology &amp; tools match the requirements.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Architecture: MVVM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2468880"/>
            <a:ext cx="1938528" cy="114300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D5F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View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(Activity/Fragment)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304288" y="2852928"/>
            <a:ext cx="292608" cy="365760"/>
          </a:xfrm>
          <a:prstGeom prst="rightArrow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96896" y="2468880"/>
            <a:ext cx="1938528" cy="114300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D5F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ViewModel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(LiveData)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535424" y="2852928"/>
            <a:ext cx="292608" cy="365760"/>
          </a:xfrm>
          <a:prstGeom prst="rightArrow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828032" y="2468880"/>
            <a:ext cx="1938528" cy="114300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D5F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Repository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(Resource&lt;T&gt;)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766560" y="2852928"/>
            <a:ext cx="292608" cy="365760"/>
          </a:xfrm>
          <a:prstGeom prst="rightArrow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059168" y="2468880"/>
            <a:ext cx="1938528" cy="114300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D5F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Retrofit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ApiService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997696" y="2852928"/>
            <a:ext cx="292608" cy="365760"/>
          </a:xfrm>
          <a:prstGeom prst="rightArrow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290304" y="2468880"/>
            <a:ext cx="1938528" cy="1143000"/>
          </a:xfrm>
          <a:prstGeom prst="roundRect">
            <a:avLst/>
          </a:prstGeom>
          <a:solidFill>
            <a:srgbClr val="FF6B00"/>
          </a:solidFill>
          <a:ln w="12700">
            <a:solidFill>
              <a:srgbClr val="0D5F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MySQL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(REST API)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93192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1A1A1A"/>
                </a:solidFill>
              </a:rPr>
              <a:t>• View only renders state and forwards user actions — it never calls the API directly.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1A1A1A"/>
                </a:solidFill>
              </a:rPr>
              <a:t>• Repository is the single source of truth; it wraps Retrofit and returns Resource&lt;T&gt; (LOADING / SUCCESS / ERROR).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1A1A1A"/>
                </a:solidFill>
              </a:rPr>
              <a:t>• ViewModel holds state via LiveData and survives configuration changes (rotation).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1A1A1A"/>
                </a:solidFill>
              </a:rPr>
              <a:t>• Response data flows back: MySQL -&gt; API -&gt; Repository -&gt; ViewModel -&gt; View (observed via LiveData).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FF6B00"/>
                </a:solidFill>
              </a:rPr>
              <a:t>CPMK-1 (Excellent): MVVM architecture explained correctly.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Android Components, Lifecycle &amp; Intent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• Lifecycle-aware: observe LiveData via getViewLifecycleOwner() -&gt; prevents memory leaks.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• ViewModel survives configuration changes (screen rotation).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• Async networking (Retrofit enqueue) -&gt; does not block the main thread.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• Explicit Intent: navigation between Activities + PendingIntent for notifications.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FF6B00"/>
                </a:solidFill>
              </a:rPr>
              <a:t>CPMK-1: lifecycle, background work, and Intent.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UI / UX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6675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• Responsive layouts with ConstraintLayout.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• Material Design: cards, BottomNavigation, consistent dark mode.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• Smooth navigation across 3 roles; light &amp; dark themes.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463040"/>
            <a:ext cx="4114800" cy="429768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6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i="1">
                <a:solidFill>
                  <a:srgbClr val="B45309"/>
                </a:solidFill>
              </a:rPr>
              <a:t>[ SCREENSHOT ]
Home, Queue &amp; Admin screens
(light AND dark mode)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FF6B00"/>
                </a:solidFill>
              </a:rPr>
              <a:t>CPMK-2 (Excellent): intuitive, aesthetic, consistent Material Design.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RecyclerView + Navigation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6675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• RecyclerView + ViewHolder for foods, queues, users, history lists.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• Adapter binds data to each row efficiently.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• BottomNavigationView for navigation; SearchView/Filter for search.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463040"/>
            <a:ext cx="4114800" cy="429768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6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i="1">
                <a:solidFill>
                  <a:srgbClr val="B45309"/>
                </a:solidFill>
              </a:rPr>
              <a:t>[ SCREENSHOT ]
Food list (RecyclerView)
+ adapter/ViewHolder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FF6B00"/>
                </a:solidFill>
              </a:rPr>
              <a:t>CPMK-2: optimal RecyclerView with ViewHolder + navigation.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API Integration: Retrofit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6675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• Retrofit instance: base URL + GsonConverterFactory + OkHttp client.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• ApiService interface with @GET / @POST / @PUT / @DELETE annotations.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• AuthInterceptor auto-adds header Authorization: Bearer &lt;token&gt;.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• SessionExpiryInterceptor handles expired tokens (HTTP 401).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463040"/>
            <a:ext cx="4114800" cy="429768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6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i="1">
                <a:solidFill>
                  <a:srgbClr val="B45309"/>
                </a:solidFill>
              </a:rPr>
              <a:t>[ SCREENSHOT ]
ApiConfig + ApiService
code snippet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FF6B00"/>
                </a:solidFill>
              </a:rPr>
              <a:t>CPMK-3 (Excellent): Retrofit implemented correctly.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Flow: Login to CRUD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63040" y="1234440"/>
            <a:ext cx="9235440" cy="54864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D5F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1. Login -&gt; POST /auth/login.php (email + password)</a:t>
            </a:r>
          </a:p>
        </p:txBody>
      </p:sp>
      <p:sp>
        <p:nvSpPr>
          <p:cNvPr id="5" name="Down Arrow 4"/>
          <p:cNvSpPr/>
          <p:nvPr/>
        </p:nvSpPr>
        <p:spPr>
          <a:xfrm>
            <a:off x="5852160" y="1783080"/>
            <a:ext cx="457200" cy="146304"/>
          </a:xfrm>
          <a:prstGeom prst="downArrow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463040" y="1929384"/>
            <a:ext cx="9235440" cy="54864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D5F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2. Server verifies -&gt; returns token + user (role, id)</a:t>
            </a:r>
          </a:p>
        </p:txBody>
      </p:sp>
      <p:sp>
        <p:nvSpPr>
          <p:cNvPr id="7" name="Down Arrow 6"/>
          <p:cNvSpPr/>
          <p:nvPr/>
        </p:nvSpPr>
        <p:spPr>
          <a:xfrm>
            <a:off x="5852160" y="2478024"/>
            <a:ext cx="457200" cy="146304"/>
          </a:xfrm>
          <a:prstGeom prst="downArrow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463040" y="2624328"/>
            <a:ext cx="9235440" cy="54864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D5F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3. Save session -&gt; EncryptedSharedPreferences (token, role, id)</a:t>
            </a:r>
          </a:p>
        </p:txBody>
      </p:sp>
      <p:sp>
        <p:nvSpPr>
          <p:cNvPr id="9" name="Down Arrow 8"/>
          <p:cNvSpPr/>
          <p:nvPr/>
        </p:nvSpPr>
        <p:spPr>
          <a:xfrm>
            <a:off x="5852160" y="3172968"/>
            <a:ext cx="457200" cy="146304"/>
          </a:xfrm>
          <a:prstGeom prst="downArrow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463040" y="3319272"/>
            <a:ext cx="9235440" cy="54864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D5F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4. Route by role -&gt; Customer / Staff / Admin home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852160" y="3867912"/>
            <a:ext cx="457200" cy="146304"/>
          </a:xfrm>
          <a:prstGeom prst="downArrow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463040" y="4014216"/>
            <a:ext cx="9235440" cy="54864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D5F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5. Open feature -&gt; request sent with header Authorization: Bearer &lt;token&gt;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852160" y="4562856"/>
            <a:ext cx="457200" cy="146304"/>
          </a:xfrm>
          <a:prstGeom prst="downArrow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463040" y="4709160"/>
            <a:ext cx="9235440" cy="548640"/>
          </a:xfrm>
          <a:prstGeom prst="roundRect">
            <a:avLst/>
          </a:prstGeom>
          <a:solidFill>
            <a:srgbClr val="FF6B00"/>
          </a:solidFill>
          <a:ln w="12700">
            <a:solidFill>
              <a:srgbClr val="0D5F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6. CRUD: GET read / POST create / PUT update / DELETE remove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852160" y="5257800"/>
            <a:ext cx="457200" cy="146304"/>
          </a:xfrm>
          <a:prstGeom prst="downArrow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463040" y="5404104"/>
            <a:ext cx="9235440" cy="54864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D5F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7. Repository -&gt; ViewModel (LiveData) -&gt; RecyclerView / UI updates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FF6B00"/>
                </a:solidFill>
              </a:rPr>
              <a:t>CPMK-3: end-to-end flow from token-based login to CRUD (lecturer requirement).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API Requests (GET / POST / PUT / DELETE)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• GET — read data: /queue/status.php, /foods/list.php, /staff/dashboard.php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• POST — create: /auth/login.php, /queue/take.php, /foods/create.php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• PUT — update: /foods/update.php, /user/change-password.php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• DELETE — remove: /foods/delete.php, /admin/users/delete.php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• Multipart image upload: POST /upload/image.php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FF6B00"/>
                </a:solidFill>
              </a:rPr>
              <a:t>CPMK-3: all four HTTP verbs used in real endpoints.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JSON Parsing with GSON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6675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• Model classes with @SerializedName (e.g. FoodModel: name, price, image_url, is_available).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• Wrapper ApiResponse { success, message, data }.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• GSON converts the JSON response into Java objects automatically.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463040"/>
            <a:ext cx="4114800" cy="429768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6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i="1">
                <a:solidFill>
                  <a:srgbClr val="B45309"/>
                </a:solidFill>
              </a:rPr>
              <a:t>[ SCREENSHOT ]
JSON response  &lt;-&gt;  model class
(@SerializedName)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FF6B00"/>
                </a:solidFill>
              </a:rPr>
              <a:t>CPMK-3: JSON parsing with GSON.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Session Storage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• EncryptedSharedPreferences stores token + user (role, id) encrypted.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• Token is auto-attached to every request via the interceptor.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• Session is restored when the app reopens (no re-login needed).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• Auto-logout when the token expires (HTTP 401) -&gt; back to Login.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FF6B00"/>
                </a:solidFill>
              </a:rPr>
              <a:t>CPMK-3: session login + error handling 401/404/timeout.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Error Handling, Testing &amp;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• Resource state (loading/success/error) + Retry button; server error messages.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• Timeout &amp; network handling (ApiErrorHelper) + global 401; input validation.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• Async work -&gt; minimal force close; smooth RecyclerView scrolling.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• Debugging via Logcat + OkHttp logging interceptor.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FF6B00"/>
                </a:solidFill>
              </a:rPr>
              <a:t>CPMK-4 (Excellent): stable, async, effective debugging, no memory leaks.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Database Design (MySQL ERD)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2743200" cy="41148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D5F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users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783080"/>
            <a:ext cx="2743200" cy="1234440"/>
          </a:xfrm>
          <a:prstGeom prst="rect">
            <a:avLst/>
          </a:prstGeom>
          <a:solidFill>
            <a:srgbClr val="EFF1F3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1A1A1A"/>
                </a:solidFill>
              </a:rPr>
              <a:t>id (PK)</a:t>
            </a:r>
          </a:p>
          <a:p>
            <a:r>
              <a:rPr sz="1100">
                <a:solidFill>
                  <a:srgbClr val="1A1A1A"/>
                </a:solidFill>
              </a:rPr>
              <a:t>name, email, password</a:t>
            </a:r>
          </a:p>
          <a:p>
            <a:r>
              <a:rPr sz="1100">
                <a:solidFill>
                  <a:srgbClr val="1A1A1A"/>
                </a:solidFill>
              </a:rPr>
              <a:t>role, profile_picture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17720" y="1371600"/>
            <a:ext cx="2743200" cy="411480"/>
          </a:xfrm>
          <a:prstGeom prst="roundRect">
            <a:avLst/>
          </a:prstGeom>
          <a:solidFill>
            <a:srgbClr val="FF6B00"/>
          </a:solidFill>
          <a:ln w="12700">
            <a:solidFill>
              <a:srgbClr val="0D5F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queues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617720" y="1783080"/>
            <a:ext cx="2743200" cy="1234440"/>
          </a:xfrm>
          <a:prstGeom prst="rect">
            <a:avLst/>
          </a:prstGeom>
          <a:solidFill>
            <a:srgbClr val="EFF1F3"/>
          </a:solidFill>
          <a:ln w="12700">
            <a:solidFill>
              <a:srgbClr val="FF6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1A1A1A"/>
                </a:solidFill>
              </a:rPr>
              <a:t>id (PK)</a:t>
            </a:r>
          </a:p>
          <a:p>
            <a:r>
              <a:rPr sz="1100">
                <a:solidFill>
                  <a:srgbClr val="1A1A1A"/>
                </a:solidFill>
              </a:rPr>
              <a:t>user_id (FK), food_id (FK)</a:t>
            </a:r>
          </a:p>
          <a:p>
            <a:r>
              <a:rPr sz="1100">
                <a:solidFill>
                  <a:srgbClr val="1A1A1A"/>
                </a:solidFill>
              </a:rPr>
              <a:t>queue_number, status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0" y="1371600"/>
            <a:ext cx="2743200" cy="41148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D5F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foods</a:t>
            </a:r>
          </a:p>
        </p:txBody>
      </p:sp>
      <p:sp>
        <p:nvSpPr>
          <p:cNvPr id="9" name="Rectangle 8"/>
          <p:cNvSpPr/>
          <p:nvPr/>
        </p:nvSpPr>
        <p:spPr>
          <a:xfrm>
            <a:off x="8869680" y="1783080"/>
            <a:ext cx="2743200" cy="1234440"/>
          </a:xfrm>
          <a:prstGeom prst="rect">
            <a:avLst/>
          </a:prstGeom>
          <a:solidFill>
            <a:srgbClr val="EFF1F3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1A1A1A"/>
                </a:solidFill>
              </a:rPr>
              <a:t>id (PK)</a:t>
            </a:r>
          </a:p>
          <a:p>
            <a:r>
              <a:rPr sz="1100">
                <a:solidFill>
                  <a:srgbClr val="1A1A1A"/>
                </a:solidFill>
              </a:rPr>
              <a:t>name, price, image_url</a:t>
            </a:r>
          </a:p>
          <a:p>
            <a:r>
              <a:rPr sz="1100">
                <a:solidFill>
                  <a:srgbClr val="1A1A1A"/>
                </a:solidFill>
              </a:rPr>
              <a:t>category, is_available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68880" y="4206240"/>
            <a:ext cx="2743200" cy="41148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D5F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favorites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8880" y="4617720"/>
            <a:ext cx="2743200" cy="1234440"/>
          </a:xfrm>
          <a:prstGeom prst="rect">
            <a:avLst/>
          </a:prstGeom>
          <a:solidFill>
            <a:srgbClr val="EFF1F3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1A1A1A"/>
                </a:solidFill>
              </a:rPr>
              <a:t>id (PK)</a:t>
            </a:r>
          </a:p>
          <a:p>
            <a:r>
              <a:rPr sz="1100">
                <a:solidFill>
                  <a:srgbClr val="1A1A1A"/>
                </a:solidFill>
              </a:rPr>
              <a:t>user_id (FK)</a:t>
            </a:r>
          </a:p>
          <a:p>
            <a:r>
              <a:rPr sz="1100">
                <a:solidFill>
                  <a:srgbClr val="1A1A1A"/>
                </a:solidFill>
              </a:rPr>
              <a:t>food_id (FK)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4206240"/>
            <a:ext cx="2743200" cy="41148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D5F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tokens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4617720"/>
            <a:ext cx="2743200" cy="1234440"/>
          </a:xfrm>
          <a:prstGeom prst="rect">
            <a:avLst/>
          </a:prstGeom>
          <a:solidFill>
            <a:srgbClr val="EFF1F3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1A1A1A"/>
                </a:solidFill>
              </a:rPr>
              <a:t>id (PK)</a:t>
            </a:r>
          </a:p>
          <a:p>
            <a:r>
              <a:rPr sz="1100">
                <a:solidFill>
                  <a:srgbClr val="1A1A1A"/>
                </a:solidFill>
              </a:rPr>
              <a:t>user_id (FK)</a:t>
            </a:r>
          </a:p>
          <a:p>
            <a:r>
              <a:rPr sz="1100">
                <a:solidFill>
                  <a:srgbClr val="1A1A1A"/>
                </a:solidFill>
              </a:rPr>
              <a:t>token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37360" y="2194560"/>
            <a:ext cx="4251960" cy="0"/>
          </a:xfrm>
          <a:prstGeom prst="line">
            <a:avLst/>
          </a:prstGeom>
          <a:ln w="1587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989320" y="2194560"/>
            <a:ext cx="4251960" cy="0"/>
          </a:xfrm>
          <a:prstGeom prst="line">
            <a:avLst/>
          </a:prstGeom>
          <a:ln w="1587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1737360" y="2194560"/>
            <a:ext cx="2103120" cy="2834640"/>
          </a:xfrm>
          <a:prstGeom prst="line">
            <a:avLst/>
          </a:prstGeom>
          <a:ln w="1587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3840480" y="2194560"/>
            <a:ext cx="6400800" cy="2834640"/>
          </a:xfrm>
          <a:prstGeom prst="line">
            <a:avLst/>
          </a:prstGeom>
          <a:ln w="1587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1737360" y="2194560"/>
            <a:ext cx="6400800" cy="2834640"/>
          </a:xfrm>
          <a:prstGeom prst="line">
            <a:avLst/>
          </a:prstGeom>
          <a:ln w="1587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6576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6B7280"/>
                </a:solidFill>
              </a:rPr>
              <a:t>Relations (FK): queues-&gt;users, queues-&gt;foods, favorites-&gt;users, favorites-&gt;foods, tokens-&gt;users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FF6B00"/>
                </a:solidFill>
              </a:rPr>
              <a:t>CPMK-3: real, structured MySQL database.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Application 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• Data security: encrypted token, bcrypt on server, auto-logout on expired token.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• Multi-role (customer/staff/admin) in one app + per-role access protection.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• Semi real-time queue: auto-refresh status + notification when it is your turn.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• Clean MVVM + error handling -&gt; stable, maintainable, minimal force close.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FF6B00"/>
                </a:solidFill>
              </a:rPr>
              <a:t>CPMK-5: at least 3 advantages — 4 shown here.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Live Demo — Screen Recording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6675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• 1. Splash -&gt; Login -&gt; Register (token-based).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• 2. Customer: take queue -&gt; live status -&gt; history -&gt; favorites -&gt; search.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• 3. Staff: dashboard -&gt; call next -&gt; complete / skip / cancel.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• 4. Admin: CRUD food + image upload -&gt; availability toggle -&gt; manage users.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• 5. Profile: edit, change password, upload photo, dark mode, notifications.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463040"/>
            <a:ext cx="4114800" cy="429768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6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i="1">
                <a:solidFill>
                  <a:srgbClr val="B45309"/>
                </a:solidFill>
              </a:rPr>
              <a:t>[ SCREENSHOT ]
Capture EACH numbered
flow on the left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FF6B00"/>
                </a:solidFill>
              </a:rPr>
              <a:t>Requirement: demo runs the app and shows ALL features (~4 min).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Documentation &amp; Publication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6675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• Source code on GitHub (clean folder structure + commits).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• APK successfully built and installed.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• Setup: deploy API on Laragon + import database.sql + run migration.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463040"/>
            <a:ext cx="4114800" cy="429768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6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i="1">
                <a:solidFill>
                  <a:srgbClr val="B45309"/>
                </a:solidFill>
              </a:rPr>
              <a:t>[ SCREENSHOT ]
GitHub repo page
+ APK installed on device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FF6B00"/>
                </a:solidFill>
              </a:rPr>
              <a:t>CPMK-5: GitHub, APK, and clean documentation.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Rubric Mapping (CPMK)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• CPMK-1 — MVVM architecture, lifecycle, Intent  [OK]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• CPMK-2 — ConstraintLayout, RecyclerView/ViewHolder, BottomNav, Material  [OK]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• CPMK-3 — Retrofit GET/POST/PUT/DELETE, CRUD MySQL, session, 401 handling  [OK]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• CPMK-4 — Stable, async, debugging, performance  [OK]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• CPMK-5 — Full video, GitHub, APK, documentation  [OK]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FF6B00"/>
                </a:solidFill>
              </a:rPr>
              <a:t>Goal: Excellent across all CPMK.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• WeQueue — Skip the Queue, Enjoy Your Food.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• Questions &amp; Answers (Q&amp;A).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